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6" r:id="rId3"/>
    <p:sldId id="25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22C2E-A9EE-7D91-1639-F3E6810685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3AE0177-9C25-F005-A498-AA11F0E0F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2E80A7-6485-4C50-49D7-B0AEDC94B832}"/>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5" name="Footer Placeholder 4">
            <a:extLst>
              <a:ext uri="{FF2B5EF4-FFF2-40B4-BE49-F238E27FC236}">
                <a16:creationId xmlns:a16="http://schemas.microsoft.com/office/drawing/2014/main" id="{AE88F697-3C78-5890-617C-88EB0E5859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4839EB-BF03-BCFB-08BD-DC3374185ED9}"/>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350051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F5E8-BF5A-1A90-0559-B6DBF8E8F3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E0397-DB1F-1A14-2B65-AE770E12F1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976102-E14A-E2FA-C537-6BC6A884459B}"/>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5" name="Footer Placeholder 4">
            <a:extLst>
              <a:ext uri="{FF2B5EF4-FFF2-40B4-BE49-F238E27FC236}">
                <a16:creationId xmlns:a16="http://schemas.microsoft.com/office/drawing/2014/main" id="{6E69CCD8-01A8-47F8-865C-074994981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EB1318-B50D-382C-E39B-8759455509EF}"/>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2831003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9D79-44ED-0100-37BF-F2FBB8BB76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10A18D-A59E-4D92-BE28-A2F0A9D5F8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EF0037-6044-75F2-48EB-67371F1E3699}"/>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5" name="Footer Placeholder 4">
            <a:extLst>
              <a:ext uri="{FF2B5EF4-FFF2-40B4-BE49-F238E27FC236}">
                <a16:creationId xmlns:a16="http://schemas.microsoft.com/office/drawing/2014/main" id="{2411A730-50B5-CB8C-3D46-C635308DD0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5C5F6-95F7-A8A9-3E04-072A857147B5}"/>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3969801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E2736-83E7-51D5-A715-F416EB2888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52D45-E65E-D445-399A-10B1184E85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E10879-D9B9-E296-6CC3-1E252D2638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DD48AB-166B-F0E1-C999-0A22596A829C}"/>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6" name="Footer Placeholder 5">
            <a:extLst>
              <a:ext uri="{FF2B5EF4-FFF2-40B4-BE49-F238E27FC236}">
                <a16:creationId xmlns:a16="http://schemas.microsoft.com/office/drawing/2014/main" id="{64285668-BDB5-DC6A-B5CC-66750B9EE1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3232F8-A7B9-A39D-1D80-2A738F4B0DE6}"/>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3701181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2CF3-5399-A71F-255C-645CFBBFB6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202FB8-1FD1-ACC4-EC8E-AD238E3E76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4822BB-9328-0CC6-CA42-305939A67A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A0BE25-7CD1-C029-4337-E229DA2F0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F88B4B-B0E7-2E25-24A3-692260A2B1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046BB0B-0716-15BF-317B-8FCA313C398C}"/>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8" name="Footer Placeholder 7">
            <a:extLst>
              <a:ext uri="{FF2B5EF4-FFF2-40B4-BE49-F238E27FC236}">
                <a16:creationId xmlns:a16="http://schemas.microsoft.com/office/drawing/2014/main" id="{534EE0A3-BE4F-4957-7573-2E79545331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6AC740-3CA1-716D-0E62-27C10364A88A}"/>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4258744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8663E-A6E4-6175-E026-3B33FD2E0C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F9C067-4748-3B88-1F1E-EC7421654152}"/>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4" name="Footer Placeholder 3">
            <a:extLst>
              <a:ext uri="{FF2B5EF4-FFF2-40B4-BE49-F238E27FC236}">
                <a16:creationId xmlns:a16="http://schemas.microsoft.com/office/drawing/2014/main" id="{4D34BA74-C4BE-CA92-F91E-610BCD8E9F2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0B3E6D-D1E9-2367-C8C8-15404187DE51}"/>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11501646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834F2B-461D-D9F7-7AAE-8A96574E2737}"/>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3" name="Footer Placeholder 2">
            <a:extLst>
              <a:ext uri="{FF2B5EF4-FFF2-40B4-BE49-F238E27FC236}">
                <a16:creationId xmlns:a16="http://schemas.microsoft.com/office/drawing/2014/main" id="{5B5A1AD1-1DBB-9271-FEE6-268DB75180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9C8761-6B70-C698-A50D-D631C3E2291A}"/>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354265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CDB47-8BEB-539E-33AD-ED3BE4AF00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7B2E21-9C4A-07AD-969A-48D8066C38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DB5B29-4DFC-B6AD-8F61-7CE1E59C0F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07FBDD-2D68-326B-703B-6350472EFD5A}"/>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6" name="Footer Placeholder 5">
            <a:extLst>
              <a:ext uri="{FF2B5EF4-FFF2-40B4-BE49-F238E27FC236}">
                <a16:creationId xmlns:a16="http://schemas.microsoft.com/office/drawing/2014/main" id="{258F50C7-1D60-15AD-088D-994DAA4C28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3941A7-9759-25B4-1D10-75761B7BEC40}"/>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237831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80F3-7E0D-8F58-D927-535A5CBB47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AA69491-6751-698A-191A-68B8BD0DB7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D460A04-DE21-5FDE-1BC8-D4E43BC63B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06C728-B231-8C23-58A3-89B0C7950EFF}"/>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6" name="Footer Placeholder 5">
            <a:extLst>
              <a:ext uri="{FF2B5EF4-FFF2-40B4-BE49-F238E27FC236}">
                <a16:creationId xmlns:a16="http://schemas.microsoft.com/office/drawing/2014/main" id="{19785EAC-B541-8541-8384-8975E441C5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B0670F-C591-60FA-DDA7-D3E8E77DF729}"/>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282657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BAE52-E93A-831E-5420-EBCE2E13DD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ADB6F3-52B5-F60C-F653-94BC22F424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565F2-CAED-B3AB-E564-BF2F33672CD6}"/>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5" name="Footer Placeholder 4">
            <a:extLst>
              <a:ext uri="{FF2B5EF4-FFF2-40B4-BE49-F238E27FC236}">
                <a16:creationId xmlns:a16="http://schemas.microsoft.com/office/drawing/2014/main" id="{077212E2-9936-B794-43C8-8B1C368DE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188B38-AB66-8916-8A63-F87B7A1A0C5E}"/>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3077489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304541-94B8-7255-3319-DC3FC06E59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A12830-2184-6871-02F7-C5A789CCF3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705283-7C66-F05D-CB42-DCD85373F308}"/>
              </a:ext>
            </a:extLst>
          </p:cNvPr>
          <p:cNvSpPr>
            <a:spLocks noGrp="1"/>
          </p:cNvSpPr>
          <p:nvPr>
            <p:ph type="dt" sz="half" idx="10"/>
          </p:nvPr>
        </p:nvSpPr>
        <p:spPr/>
        <p:txBody>
          <a:bodyPr/>
          <a:lstStyle/>
          <a:p>
            <a:fld id="{9400240F-DDC2-41D8-9C2B-A7A19BFAD7B9}" type="datetimeFigureOut">
              <a:rPr lang="en-US" smtClean="0"/>
              <a:t>11/14/2025</a:t>
            </a:fld>
            <a:endParaRPr lang="en-US"/>
          </a:p>
        </p:txBody>
      </p:sp>
      <p:sp>
        <p:nvSpPr>
          <p:cNvPr id="5" name="Footer Placeholder 4">
            <a:extLst>
              <a:ext uri="{FF2B5EF4-FFF2-40B4-BE49-F238E27FC236}">
                <a16:creationId xmlns:a16="http://schemas.microsoft.com/office/drawing/2014/main" id="{815F89CE-A2D7-114C-FFD7-35320CD557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0E4A9D-B61B-12E3-A1F3-8E002FFB9FA0}"/>
              </a:ext>
            </a:extLst>
          </p:cNvPr>
          <p:cNvSpPr>
            <a:spLocks noGrp="1"/>
          </p:cNvSpPr>
          <p:nvPr>
            <p:ph type="sldNum" sz="quarter" idx="12"/>
          </p:nvPr>
        </p:nvSpPr>
        <p:spPr/>
        <p:txBody>
          <a:bodyPr/>
          <a:lstStyle/>
          <a:p>
            <a:fld id="{93A2FFAF-1308-436F-868E-41DCE093F945}" type="slidenum">
              <a:rPr lang="en-US" smtClean="0"/>
              <a:t>‹#›</a:t>
            </a:fld>
            <a:endParaRPr lang="en-US"/>
          </a:p>
        </p:txBody>
      </p:sp>
    </p:spTree>
    <p:extLst>
      <p:ext uri="{BB962C8B-B14F-4D97-AF65-F5344CB8AC3E}">
        <p14:creationId xmlns:p14="http://schemas.microsoft.com/office/powerpoint/2010/main" val="288199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68DAC4-9970-8F39-8F19-EBE64F9458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7F8D18-466C-FE7E-0826-4C64FFE54D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218ABA-FB0F-9E4A-253F-E59B6DFBA2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00240F-DDC2-41D8-9C2B-A7A19BFAD7B9}" type="datetimeFigureOut">
              <a:rPr lang="en-US" smtClean="0"/>
              <a:t>11/14/2025</a:t>
            </a:fld>
            <a:endParaRPr lang="en-US"/>
          </a:p>
        </p:txBody>
      </p:sp>
      <p:sp>
        <p:nvSpPr>
          <p:cNvPr id="5" name="Footer Placeholder 4">
            <a:extLst>
              <a:ext uri="{FF2B5EF4-FFF2-40B4-BE49-F238E27FC236}">
                <a16:creationId xmlns:a16="http://schemas.microsoft.com/office/drawing/2014/main" id="{7DC444EE-9FFE-AB09-F975-0FEC08DD8E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3597E05-B59A-503A-D877-F45330B047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2FFAF-1308-436F-868E-41DCE093F945}" type="slidenum">
              <a:rPr lang="en-US" smtClean="0"/>
              <a:t>‹#›</a:t>
            </a:fld>
            <a:endParaRPr lang="en-US"/>
          </a:p>
        </p:txBody>
      </p:sp>
    </p:spTree>
    <p:extLst>
      <p:ext uri="{BB962C8B-B14F-4D97-AF65-F5344CB8AC3E}">
        <p14:creationId xmlns:p14="http://schemas.microsoft.com/office/powerpoint/2010/main" val="1194688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DFB9FD-B805-37B3-864F-16DE2281B5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59013" y="1404057"/>
            <a:ext cx="3881534" cy="2208006"/>
          </a:xfrm>
          <a:prstGeom prst="rect">
            <a:avLst/>
          </a:prstGeom>
        </p:spPr>
      </p:pic>
      <p:sp>
        <p:nvSpPr>
          <p:cNvPr id="4" name="TextBox 3">
            <a:extLst>
              <a:ext uri="{FF2B5EF4-FFF2-40B4-BE49-F238E27FC236}">
                <a16:creationId xmlns:a16="http://schemas.microsoft.com/office/drawing/2014/main" id="{A6DDA164-35E9-6F0A-C7DD-AC7A293E3DCB}"/>
              </a:ext>
            </a:extLst>
          </p:cNvPr>
          <p:cNvSpPr txBox="1"/>
          <p:nvPr/>
        </p:nvSpPr>
        <p:spPr>
          <a:xfrm>
            <a:off x="1017037" y="942392"/>
            <a:ext cx="3281265" cy="461665"/>
          </a:xfrm>
          <a:prstGeom prst="rect">
            <a:avLst/>
          </a:prstGeom>
          <a:noFill/>
        </p:spPr>
        <p:txBody>
          <a:bodyPr wrap="square" rtlCol="0">
            <a:spAutoFit/>
          </a:bodyPr>
          <a:lstStyle/>
          <a:p>
            <a:r>
              <a:rPr lang="en-US" sz="2400" dirty="0">
                <a:latin typeface="Microsoft Sans Serif" panose="020B0604020202020204" pitchFamily="34" charset="0"/>
                <a:ea typeface="Microsoft Sans Serif" panose="020B0604020202020204" pitchFamily="34" charset="0"/>
                <a:cs typeface="Microsoft Sans Serif" panose="020B0604020202020204" pitchFamily="34" charset="0"/>
              </a:rPr>
              <a:t>Ada Boost Algorithm</a:t>
            </a:r>
          </a:p>
        </p:txBody>
      </p:sp>
      <p:sp>
        <p:nvSpPr>
          <p:cNvPr id="5" name="TextBox 4">
            <a:extLst>
              <a:ext uri="{FF2B5EF4-FFF2-40B4-BE49-F238E27FC236}">
                <a16:creationId xmlns:a16="http://schemas.microsoft.com/office/drawing/2014/main" id="{A0C1B337-FA70-48F1-5BEE-819D7B388B54}"/>
              </a:ext>
            </a:extLst>
          </p:cNvPr>
          <p:cNvSpPr txBox="1"/>
          <p:nvPr/>
        </p:nvSpPr>
        <p:spPr>
          <a:xfrm>
            <a:off x="1017038" y="1968759"/>
            <a:ext cx="6540758" cy="923330"/>
          </a:xfrm>
          <a:prstGeom prst="rect">
            <a:avLst/>
          </a:prstGeom>
          <a:noFill/>
        </p:spPr>
        <p:txBody>
          <a:bodyPr wrap="square" rtlCol="0">
            <a:spAutoFit/>
          </a:bodyPr>
          <a:lstStyle/>
          <a:p>
            <a:r>
              <a:rPr lang="en-US" dirty="0"/>
              <a:t>AdaBoost is a versatile algorithm. It processes data by combining weak learners, such as decision trees. Each tree in the algorithm focuses heavily on correcting the errors of the previous tree.</a:t>
            </a:r>
          </a:p>
        </p:txBody>
      </p:sp>
      <p:sp>
        <p:nvSpPr>
          <p:cNvPr id="6" name="TextBox 5">
            <a:extLst>
              <a:ext uri="{FF2B5EF4-FFF2-40B4-BE49-F238E27FC236}">
                <a16:creationId xmlns:a16="http://schemas.microsoft.com/office/drawing/2014/main" id="{146373DF-97FD-99C8-3801-E564C5376468}"/>
              </a:ext>
            </a:extLst>
          </p:cNvPr>
          <p:cNvSpPr txBox="1"/>
          <p:nvPr/>
        </p:nvSpPr>
        <p:spPr>
          <a:xfrm>
            <a:off x="800934" y="2023369"/>
            <a:ext cx="300082" cy="369332"/>
          </a:xfrm>
          <a:prstGeom prst="rect">
            <a:avLst/>
          </a:prstGeom>
          <a:noFill/>
        </p:spPr>
        <p:txBody>
          <a:bodyPr wrap="none" rtlCol="0">
            <a:spAutoFit/>
          </a:bodyPr>
          <a:lstStyle/>
          <a:p>
            <a:r>
              <a:rPr lang="en-US" dirty="0"/>
              <a:t>*</a:t>
            </a:r>
          </a:p>
        </p:txBody>
      </p:sp>
      <p:sp>
        <p:nvSpPr>
          <p:cNvPr id="7" name="TextBox 6">
            <a:extLst>
              <a:ext uri="{FF2B5EF4-FFF2-40B4-BE49-F238E27FC236}">
                <a16:creationId xmlns:a16="http://schemas.microsoft.com/office/drawing/2014/main" id="{1FCDB159-5CB8-A7E1-98E0-E7D77A97D7A5}"/>
              </a:ext>
            </a:extLst>
          </p:cNvPr>
          <p:cNvSpPr txBox="1"/>
          <p:nvPr/>
        </p:nvSpPr>
        <p:spPr>
          <a:xfrm>
            <a:off x="1017037" y="3965912"/>
            <a:ext cx="10515600" cy="1200329"/>
          </a:xfrm>
          <a:prstGeom prst="rect">
            <a:avLst/>
          </a:prstGeom>
          <a:noFill/>
        </p:spPr>
        <p:txBody>
          <a:bodyPr wrap="square" rtlCol="0">
            <a:spAutoFit/>
          </a:bodyPr>
          <a:lstStyle/>
          <a:p>
            <a:r>
              <a:rPr lang="en-US" dirty="0"/>
              <a:t>It uses a weight-based boosting method. Here, 'weight' means the algorithm assigns an importance to each data point. If a tree makes an error on a data point, the weight for that specific data point is increased. This ensures that the next tree pays more attention to that data point, thus correcting the error. This process ultimately leads to better overall results.</a:t>
            </a:r>
          </a:p>
        </p:txBody>
      </p:sp>
      <p:sp>
        <p:nvSpPr>
          <p:cNvPr id="10" name="TextBox 9">
            <a:extLst>
              <a:ext uri="{FF2B5EF4-FFF2-40B4-BE49-F238E27FC236}">
                <a16:creationId xmlns:a16="http://schemas.microsoft.com/office/drawing/2014/main" id="{09393D69-3C82-1460-0396-4753515990E1}"/>
              </a:ext>
            </a:extLst>
          </p:cNvPr>
          <p:cNvSpPr txBox="1"/>
          <p:nvPr/>
        </p:nvSpPr>
        <p:spPr>
          <a:xfrm>
            <a:off x="810265" y="4012567"/>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4266439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73BF89-4FF8-39F5-6B40-18E63B27EFE6}"/>
              </a:ext>
            </a:extLst>
          </p:cNvPr>
          <p:cNvSpPr txBox="1"/>
          <p:nvPr/>
        </p:nvSpPr>
        <p:spPr>
          <a:xfrm>
            <a:off x="1017037" y="942392"/>
            <a:ext cx="3281265" cy="461665"/>
          </a:xfrm>
          <a:prstGeom prst="rect">
            <a:avLst/>
          </a:prstGeom>
          <a:noFill/>
        </p:spPr>
        <p:txBody>
          <a:bodyPr wrap="square" rtlCol="0">
            <a:spAutoFit/>
          </a:bodyPr>
          <a:lstStyle/>
          <a:p>
            <a:r>
              <a:rPr lang="en-US" sz="2400" dirty="0">
                <a:latin typeface="Microsoft Sans Serif" panose="020B0604020202020204" pitchFamily="34" charset="0"/>
                <a:ea typeface="Microsoft Sans Serif" panose="020B0604020202020204" pitchFamily="34" charset="0"/>
                <a:cs typeface="Microsoft Sans Serif" panose="020B0604020202020204" pitchFamily="34" charset="0"/>
              </a:rPr>
              <a:t>XG Boosting Algorithm</a:t>
            </a:r>
          </a:p>
        </p:txBody>
      </p:sp>
      <p:pic>
        <p:nvPicPr>
          <p:cNvPr id="6" name="Picture 5">
            <a:extLst>
              <a:ext uri="{FF2B5EF4-FFF2-40B4-BE49-F238E27FC236}">
                <a16:creationId xmlns:a16="http://schemas.microsoft.com/office/drawing/2014/main" id="{2B84C49D-58C1-90C9-5A24-A655FF298D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4629" y="311331"/>
            <a:ext cx="4819264" cy="3855411"/>
          </a:xfrm>
          <a:prstGeom prst="rect">
            <a:avLst/>
          </a:prstGeom>
        </p:spPr>
      </p:pic>
      <p:sp>
        <p:nvSpPr>
          <p:cNvPr id="7" name="TextBox 6">
            <a:extLst>
              <a:ext uri="{FF2B5EF4-FFF2-40B4-BE49-F238E27FC236}">
                <a16:creationId xmlns:a16="http://schemas.microsoft.com/office/drawing/2014/main" id="{D7F47EFB-9299-C01E-ACFD-FB9388FC0358}"/>
              </a:ext>
            </a:extLst>
          </p:cNvPr>
          <p:cNvSpPr txBox="1"/>
          <p:nvPr/>
        </p:nvSpPr>
        <p:spPr>
          <a:xfrm>
            <a:off x="1017037" y="2052424"/>
            <a:ext cx="5458408" cy="646331"/>
          </a:xfrm>
          <a:prstGeom prst="rect">
            <a:avLst/>
          </a:prstGeom>
          <a:noFill/>
        </p:spPr>
        <p:txBody>
          <a:bodyPr wrap="square" rtlCol="0">
            <a:spAutoFit/>
          </a:bodyPr>
          <a:lstStyle/>
          <a:p>
            <a:r>
              <a:rPr lang="en-US" dirty="0"/>
              <a:t>XG Boosting is a powerful gradient boosting algorithm. It combines decision trees to provide accurate predictions.</a:t>
            </a:r>
          </a:p>
        </p:txBody>
      </p:sp>
      <p:sp>
        <p:nvSpPr>
          <p:cNvPr id="8" name="TextBox 7">
            <a:extLst>
              <a:ext uri="{FF2B5EF4-FFF2-40B4-BE49-F238E27FC236}">
                <a16:creationId xmlns:a16="http://schemas.microsoft.com/office/drawing/2014/main" id="{645C3FD9-566A-C1F3-D4EF-AD522F0BB3D9}"/>
              </a:ext>
            </a:extLst>
          </p:cNvPr>
          <p:cNvSpPr txBox="1"/>
          <p:nvPr/>
        </p:nvSpPr>
        <p:spPr>
          <a:xfrm>
            <a:off x="810265" y="2090460"/>
            <a:ext cx="300082" cy="369332"/>
          </a:xfrm>
          <a:prstGeom prst="rect">
            <a:avLst/>
          </a:prstGeom>
          <a:noFill/>
        </p:spPr>
        <p:txBody>
          <a:bodyPr wrap="none" rtlCol="0">
            <a:spAutoFit/>
          </a:bodyPr>
          <a:lstStyle/>
          <a:p>
            <a:r>
              <a:rPr lang="en-US" dirty="0"/>
              <a:t>*</a:t>
            </a:r>
          </a:p>
        </p:txBody>
      </p:sp>
      <p:sp>
        <p:nvSpPr>
          <p:cNvPr id="9" name="TextBox 8">
            <a:extLst>
              <a:ext uri="{FF2B5EF4-FFF2-40B4-BE49-F238E27FC236}">
                <a16:creationId xmlns:a16="http://schemas.microsoft.com/office/drawing/2014/main" id="{5F35AE38-C983-E0E9-F7C5-8F6A5D111CA7}"/>
              </a:ext>
            </a:extLst>
          </p:cNvPr>
          <p:cNvSpPr txBox="1"/>
          <p:nvPr/>
        </p:nvSpPr>
        <p:spPr>
          <a:xfrm>
            <a:off x="1012858" y="3891779"/>
            <a:ext cx="6081028" cy="923330"/>
          </a:xfrm>
          <a:prstGeom prst="rect">
            <a:avLst/>
          </a:prstGeom>
          <a:noFill/>
        </p:spPr>
        <p:txBody>
          <a:bodyPr wrap="square" rtlCol="0">
            <a:spAutoFit/>
          </a:bodyPr>
          <a:lstStyle/>
          <a:p>
            <a:r>
              <a:rPr lang="en-US" dirty="0"/>
              <a:t>Gradient boosting framework is about building a new model to reduce mistakes in an existing model and adding it to the existing model.</a:t>
            </a:r>
          </a:p>
        </p:txBody>
      </p:sp>
      <p:sp>
        <p:nvSpPr>
          <p:cNvPr id="10" name="TextBox 9">
            <a:extLst>
              <a:ext uri="{FF2B5EF4-FFF2-40B4-BE49-F238E27FC236}">
                <a16:creationId xmlns:a16="http://schemas.microsoft.com/office/drawing/2014/main" id="{DAEA832D-E5C9-7705-2656-DE8FBAD8A6F0}"/>
              </a:ext>
            </a:extLst>
          </p:cNvPr>
          <p:cNvSpPr txBox="1"/>
          <p:nvPr/>
        </p:nvSpPr>
        <p:spPr>
          <a:xfrm>
            <a:off x="810265" y="3938434"/>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3390344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B20B58-4F35-7D5C-6B50-3BB3C784B207}"/>
              </a:ext>
            </a:extLst>
          </p:cNvPr>
          <p:cNvSpPr txBox="1"/>
          <p:nvPr/>
        </p:nvSpPr>
        <p:spPr>
          <a:xfrm>
            <a:off x="1017037" y="942392"/>
            <a:ext cx="4497355" cy="461665"/>
          </a:xfrm>
          <a:prstGeom prst="rect">
            <a:avLst/>
          </a:prstGeom>
          <a:noFill/>
        </p:spPr>
        <p:txBody>
          <a:bodyPr wrap="square" rtlCol="0">
            <a:spAutoFit/>
          </a:bodyPr>
          <a:lstStyle/>
          <a:p>
            <a:r>
              <a:rPr lang="en-US" sz="2400" dirty="0">
                <a:latin typeface="Microsoft Sans Serif" panose="020B0604020202020204" pitchFamily="34" charset="0"/>
                <a:ea typeface="Microsoft Sans Serif" panose="020B0604020202020204" pitchFamily="34" charset="0"/>
                <a:cs typeface="Microsoft Sans Serif" panose="020B0604020202020204" pitchFamily="34" charset="0"/>
              </a:rPr>
              <a:t>LG Boosting Algorithm  (LGBM)</a:t>
            </a:r>
          </a:p>
        </p:txBody>
      </p:sp>
      <p:pic>
        <p:nvPicPr>
          <p:cNvPr id="4" name="Picture 3">
            <a:extLst>
              <a:ext uri="{FF2B5EF4-FFF2-40B4-BE49-F238E27FC236}">
                <a16:creationId xmlns:a16="http://schemas.microsoft.com/office/drawing/2014/main" id="{D2E259E1-6EA7-4473-21AC-28B7F3A0DF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1511" y="1173224"/>
            <a:ext cx="5707223" cy="2000606"/>
          </a:xfrm>
          <a:prstGeom prst="rect">
            <a:avLst/>
          </a:prstGeom>
        </p:spPr>
      </p:pic>
      <p:sp>
        <p:nvSpPr>
          <p:cNvPr id="5" name="TextBox 4">
            <a:extLst>
              <a:ext uri="{FF2B5EF4-FFF2-40B4-BE49-F238E27FC236}">
                <a16:creationId xmlns:a16="http://schemas.microsoft.com/office/drawing/2014/main" id="{FBF42263-74F8-0401-B37D-17EC14701774}"/>
              </a:ext>
            </a:extLst>
          </p:cNvPr>
          <p:cNvSpPr txBox="1"/>
          <p:nvPr/>
        </p:nvSpPr>
        <p:spPr>
          <a:xfrm>
            <a:off x="1054362" y="3303049"/>
            <a:ext cx="6540758" cy="923330"/>
          </a:xfrm>
          <a:prstGeom prst="rect">
            <a:avLst/>
          </a:prstGeom>
          <a:noFill/>
        </p:spPr>
        <p:txBody>
          <a:bodyPr wrap="square" rtlCol="0">
            <a:spAutoFit/>
          </a:bodyPr>
          <a:lstStyle/>
          <a:p>
            <a:r>
              <a:rPr lang="en-US" dirty="0"/>
              <a:t>Light Gradient Boosting Machine, like other boosting algorithms, is built by combining decision trees. The subsequent trees correct the errors made by the previous trees.</a:t>
            </a:r>
          </a:p>
        </p:txBody>
      </p:sp>
      <p:sp>
        <p:nvSpPr>
          <p:cNvPr id="6" name="TextBox 5">
            <a:extLst>
              <a:ext uri="{FF2B5EF4-FFF2-40B4-BE49-F238E27FC236}">
                <a16:creationId xmlns:a16="http://schemas.microsoft.com/office/drawing/2014/main" id="{313261AA-5CB3-4355-0F86-B5E45C6E4E95}"/>
              </a:ext>
            </a:extLst>
          </p:cNvPr>
          <p:cNvSpPr txBox="1"/>
          <p:nvPr/>
        </p:nvSpPr>
        <p:spPr>
          <a:xfrm>
            <a:off x="838258" y="3357659"/>
            <a:ext cx="300082" cy="369332"/>
          </a:xfrm>
          <a:prstGeom prst="rect">
            <a:avLst/>
          </a:prstGeom>
          <a:noFill/>
        </p:spPr>
        <p:txBody>
          <a:bodyPr wrap="none" rtlCol="0">
            <a:spAutoFit/>
          </a:bodyPr>
          <a:lstStyle/>
          <a:p>
            <a:r>
              <a:rPr lang="en-US" dirty="0"/>
              <a:t>*</a:t>
            </a:r>
          </a:p>
        </p:txBody>
      </p:sp>
      <p:sp>
        <p:nvSpPr>
          <p:cNvPr id="7" name="TextBox 6">
            <a:extLst>
              <a:ext uri="{FF2B5EF4-FFF2-40B4-BE49-F238E27FC236}">
                <a16:creationId xmlns:a16="http://schemas.microsoft.com/office/drawing/2014/main" id="{6825D687-AAAC-B4A3-3BDD-ADD96F63684B}"/>
              </a:ext>
            </a:extLst>
          </p:cNvPr>
          <p:cNvSpPr txBox="1"/>
          <p:nvPr/>
        </p:nvSpPr>
        <p:spPr>
          <a:xfrm>
            <a:off x="1017037" y="4787010"/>
            <a:ext cx="10515600" cy="646331"/>
          </a:xfrm>
          <a:prstGeom prst="rect">
            <a:avLst/>
          </a:prstGeom>
          <a:noFill/>
        </p:spPr>
        <p:txBody>
          <a:bodyPr wrap="square" rtlCol="0">
            <a:spAutoFit/>
          </a:bodyPr>
          <a:lstStyle/>
          <a:p>
            <a:r>
              <a:rPr lang="en-US" dirty="0"/>
              <a:t>It is very efficient and fast for large and high-dimensional datasets, but for small datasets, it might sometimes overfit.</a:t>
            </a:r>
          </a:p>
        </p:txBody>
      </p:sp>
      <p:sp>
        <p:nvSpPr>
          <p:cNvPr id="8" name="TextBox 7">
            <a:extLst>
              <a:ext uri="{FF2B5EF4-FFF2-40B4-BE49-F238E27FC236}">
                <a16:creationId xmlns:a16="http://schemas.microsoft.com/office/drawing/2014/main" id="{27610770-AB01-8DD8-7481-52A0D23F870B}"/>
              </a:ext>
            </a:extLst>
          </p:cNvPr>
          <p:cNvSpPr txBox="1"/>
          <p:nvPr/>
        </p:nvSpPr>
        <p:spPr>
          <a:xfrm>
            <a:off x="810265" y="4833665"/>
            <a:ext cx="300082"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4060411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217</Words>
  <Application>Microsoft Office PowerPoint</Application>
  <PresentationFormat>Widescreen</PresentationFormat>
  <Paragraphs>15</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Microsoft Sans Serif</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shabeebibnumubarak2557@gmail.com</dc:creator>
  <cp:lastModifiedBy>shabeebibnumubarak2557@gmail.com</cp:lastModifiedBy>
  <cp:revision>2</cp:revision>
  <dcterms:created xsi:type="dcterms:W3CDTF">2025-11-14T04:31:15Z</dcterms:created>
  <dcterms:modified xsi:type="dcterms:W3CDTF">2025-11-14T05:00:49Z</dcterms:modified>
</cp:coreProperties>
</file>